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Robo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15A2CB-3E29-44C0-8858-44FC1B489BF0}">
  <a:tblStyle styleId="{4315A2CB-3E29-44C0-8858-44FC1B489BF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bold.fntdata"/><Relationship Id="rId12" Type="http://schemas.openxmlformats.org/officeDocument/2006/relationships/slide" Target="slides/slide6.xml"/><Relationship Id="rId34" Type="http://schemas.openxmlformats.org/officeDocument/2006/relationships/font" Target="fonts/Roboto-regular.fntdata"/><Relationship Id="rId15" Type="http://schemas.openxmlformats.org/officeDocument/2006/relationships/slide" Target="slides/slide9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466ee968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466ee968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466ee9682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466ee9682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466ee9682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c466ee9682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Attention是找target and source之間的關聯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self-attention就是自己跟自己的關聯：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比方說同一句話，叫模型去找出這個it代表什麼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左邊是animal (因為tired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右邊是road (因為wide</a:t>
            </a:r>
            <a:endParaRPr/>
          </a:p>
        </p:txBody>
      </p:sp>
      <p:sp>
        <p:nvSpPr>
          <p:cNvPr id="110" name="Google Shape;110;g3c466ee9682_0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466ee9682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466ee9682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466ee9682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466ee9682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466ee9682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466ee9682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466ee9682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466ee9682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466ee9682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466ee9682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466ee9682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466ee9682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466ee9682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466ee9682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466ee9682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466ee9682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466ee9682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466ee9682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466ee9682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466ee9682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466ee9682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466ee9682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466ee9682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466ee9682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466ee9682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466ee9682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466ee9682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466ee9682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466ee9682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466ee9682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466ee9682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466ee9682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466ee9682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466ee9682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466ee9682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c466ee9682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466ee9682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466ee9682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466ee9682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c466ee9682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466ee9682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c466ee9682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466ee9682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466ee9682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466ee9682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466ee9682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466ee9682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466ee9682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>
  <p:cSld name="Title Slide 0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&#10;&#10;Description automatically generated"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77" y="0"/>
            <a:ext cx="91422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ctrTitle"/>
          </p:nvPr>
        </p:nvSpPr>
        <p:spPr>
          <a:xfrm>
            <a:off x="407710" y="2516957"/>
            <a:ext cx="4442400" cy="10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Verdana"/>
              <a:buNone/>
              <a:defRPr b="1" sz="33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07710" y="2183466"/>
            <a:ext cx="3996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927" y="452098"/>
            <a:ext cx="1332402" cy="2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407710" y="3599525"/>
            <a:ext cx="44424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0" sz="11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7" name="Google Shape;57;p13"/>
          <p:cNvSpPr txBox="1"/>
          <p:nvPr/>
        </p:nvSpPr>
        <p:spPr>
          <a:xfrm>
            <a:off x="56560" y="4872579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58" name="Google Shape;58;p13"/>
          <p:cNvSpPr txBox="1"/>
          <p:nvPr>
            <p:ph idx="3" type="body"/>
          </p:nvPr>
        </p:nvSpPr>
        <p:spPr>
          <a:xfrm>
            <a:off x="2363338" y="4856536"/>
            <a:ext cx="4442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927" y="452098"/>
            <a:ext cx="1332402" cy="2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56560" y="4872579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03">
  <p:cSld name="Table 0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shape&#10;&#10;Description automatically generated" id="63" name="Google Shape;6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" y="0"/>
            <a:ext cx="91422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" y="0"/>
            <a:ext cx="91422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93073"/>
          <a:stretch/>
        </p:blipFill>
        <p:spPr>
          <a:xfrm>
            <a:off x="888" y="4787283"/>
            <a:ext cx="9142225" cy="35621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401267" y="273844"/>
            <a:ext cx="81141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56560" y="4872579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2363338" y="4856536"/>
            <a:ext cx="4442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56560" y="4872579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934" y="817584"/>
            <a:ext cx="901534" cy="6326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" name="Google Shape;74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6240722" y="4838060"/>
            <a:ext cx="555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01">
  <p:cSld name="Table 0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&#10;&#10;Description automatically generated" id="77" name="Google Shape;77;p15"/>
          <p:cNvPicPr preferRelativeResize="0"/>
          <p:nvPr/>
        </p:nvPicPr>
        <p:blipFill rotWithShape="1">
          <a:blip r:embed="rId2">
            <a:alphaModFix/>
          </a:blip>
          <a:srcRect b="0" l="0" r="0" t="93073"/>
          <a:stretch/>
        </p:blipFill>
        <p:spPr>
          <a:xfrm>
            <a:off x="888" y="4787283"/>
            <a:ext cx="9142225" cy="356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 with medium confidence" id="78" name="Google Shape;78;p15"/>
          <p:cNvPicPr preferRelativeResize="0"/>
          <p:nvPr/>
        </p:nvPicPr>
        <p:blipFill rotWithShape="1">
          <a:blip r:embed="rId3">
            <a:alphaModFix/>
          </a:blip>
          <a:srcRect b="75144" l="0" r="0" t="0"/>
          <a:stretch/>
        </p:blipFill>
        <p:spPr>
          <a:xfrm>
            <a:off x="888" y="0"/>
            <a:ext cx="9142225" cy="127846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Verdana"/>
              <a:buNone/>
              <a:defRPr b="1" sz="18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/>
        </p:nvSpPr>
        <p:spPr>
          <a:xfrm>
            <a:off x="56560" y="4872579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2" name="Google Shape;82;p15"/>
          <p:cNvSpPr/>
          <p:nvPr/>
        </p:nvSpPr>
        <p:spPr>
          <a:xfrm>
            <a:off x="7397318" y="4833891"/>
            <a:ext cx="1185300" cy="309600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56560" y="4872579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85" name="Google Shape;85;p15"/>
          <p:cNvSpPr/>
          <p:nvPr/>
        </p:nvSpPr>
        <p:spPr>
          <a:xfrm>
            <a:off x="7397318" y="4833891"/>
            <a:ext cx="1185300" cy="309600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240722" y="4838060"/>
            <a:ext cx="556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93473" y="2922150"/>
            <a:ext cx="5877300" cy="10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Verdana"/>
              <a:buNone/>
            </a:pPr>
            <a:r>
              <a:rPr lang="zh-TW" sz="2400"/>
              <a:t>嵌入模型（Embedding）微調與評估</a:t>
            </a:r>
            <a:endParaRPr sz="2400"/>
          </a:p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407710" y="2100766"/>
            <a:ext cx="3996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3F3F3F"/>
              </a:buClr>
              <a:buSzPts val="1800"/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96" name="Google Shape;96;p16"/>
          <p:cNvSpPr txBox="1"/>
          <p:nvPr>
            <p:ph idx="2" type="body"/>
          </p:nvPr>
        </p:nvSpPr>
        <p:spPr>
          <a:xfrm>
            <a:off x="961735" y="4150663"/>
            <a:ext cx="44424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3F3F3F"/>
              </a:buClr>
              <a:buSzPts val="1100"/>
              <a:buNone/>
            </a:pPr>
            <a:r>
              <a:rPr lang="zh-TW"/>
              <a:t>3/</a:t>
            </a:r>
            <a:r>
              <a:rPr lang="zh-TW"/>
              <a:t>19</a:t>
            </a:r>
            <a:endParaRPr/>
          </a:p>
        </p:txBody>
      </p:sp>
      <p:sp>
        <p:nvSpPr>
          <p:cNvPr id="97" name="Google Shape;97;p16"/>
          <p:cNvSpPr txBox="1"/>
          <p:nvPr>
            <p:ph idx="3" type="body"/>
          </p:nvPr>
        </p:nvSpPr>
        <p:spPr>
          <a:xfrm>
            <a:off x="2363338" y="4856536"/>
            <a:ext cx="4442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176160" y="3382516"/>
            <a:ext cx="3996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講者: PHISON 陳瑋鑫 </a:t>
            </a:r>
            <a:endParaRPr b="1" sz="1800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4" name="Google Shape;104;p17"/>
          <p:cNvGraphicFramePr/>
          <p:nvPr/>
        </p:nvGraphicFramePr>
        <p:xfrm>
          <a:off x="179650" y="11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{4315A2CB-3E29-44C0-8858-44FC1B489BF0}</a:tableStyleId>
              </a:tblPr>
              <a:tblGrid>
                <a:gridCol w="552450"/>
                <a:gridCol w="4105275"/>
                <a:gridCol w="704850"/>
                <a:gridCol w="75247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週次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課程主題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負責人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日期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RAG 系統設計與端到端評估（含 Data Processing 實作）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瑋鑫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3/5 (四)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部署、推論效率與工具生態（含 MCP/Agents）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Sarah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3/12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嵌入模型（Embedding）微調與評估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瑋鑫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3/19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LLM 訓練基礎（Tokenizer, Template）與指令微調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3/26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" name="Google Shape;105;p17"/>
          <p:cNvSpPr txBox="1"/>
          <p:nvPr/>
        </p:nvSpPr>
        <p:spPr>
          <a:xfrm>
            <a:off x="179650" y="674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第一階段：基礎與檢索技術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上課時間表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上課時間表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13" name="Google Shape;113;p18"/>
          <p:cNvGraphicFramePr/>
          <p:nvPr/>
        </p:nvGraphicFramePr>
        <p:xfrm>
          <a:off x="165625" y="127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{4315A2CB-3E29-44C0-8858-44FC1B489BF0}</a:tableStyleId>
              </a:tblPr>
              <a:tblGrid>
                <a:gridCol w="552450"/>
                <a:gridCol w="3448050"/>
                <a:gridCol w="1137675"/>
                <a:gridCol w="7194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週次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課程主題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負責人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日期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知識圖譜：與 RAG 整合應用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瑋鑫 &amp; 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4/9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GURU 專題分享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Carry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4/16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Function Calling 能力開發與微調 (SFT)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4/23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對齊與偏好學習：DPO / GRPO 實務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5/7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安全與價值對齊、拒答策略（意識形態探討）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5/14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Vision LM 訓練、影像資料集設計與 Benchmark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5/21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LLM 知識蒸餾（SFT / RL 應用）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5/28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" name="Google Shape;114;p18"/>
          <p:cNvSpPr txBox="1"/>
          <p:nvPr/>
        </p:nvSpPr>
        <p:spPr>
          <a:xfrm>
            <a:off x="165625" y="781925"/>
            <a:ext cx="40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第二階段：進階應用、對齊與訓練 (4月 - 5月)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什麼是 Embedding (嵌入向量)？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401275" y="943150"/>
            <a:ext cx="7413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將文字、圖片或音訊轉換為「數字陣列（多維向量）」的技術。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核心概念：在向量空間中，語意相近的項目會靠得較近，意義不同的項目則會互相遠離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◆"/>
            </a:pPr>
            <a:r>
              <a:rPr lang="zh-TW" sz="1800">
                <a:solidFill>
                  <a:schemeClr val="dk2"/>
                </a:solidFill>
              </a:rPr>
              <a:t>ex 蘋果在樹上 / 蘋果公司發表新的iphone 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這兩個應該要遠離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◆"/>
            </a:pPr>
            <a:r>
              <a:rPr lang="zh-TW" sz="1800">
                <a:solidFill>
                  <a:schemeClr val="dk2"/>
                </a:solidFill>
              </a:rPr>
              <a:t>ex 我有一個小狗 / 柴犬很可愛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這兩個可能沒這麼近但應該可以放在相似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為什麼我們需要 Embedding？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401275" y="943150"/>
            <a:ext cx="741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語意相似度：測量兩段文本的關聯性。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檢索增強生成 (RAG)：結合檢索與 LLM，讓 AI 根據正確的參考資料回答問題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469492" y="2270995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文本檢索的兩大守門員</a:t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469500" y="2782500"/>
            <a:ext cx="826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雙塔模型 (Bi-Encoder)：各自獨立計算查詢與文件的向量。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交叉編碼器 (Cross-Encoder)：將查詢與文件合併輸入模型一起計算。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雙塔模型 (Bi-Encoder) -&gt; embedding model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401275" y="943150"/>
            <a:ext cx="74136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分別將句子 A 和句子 B 獨立輸入模型，產生各自的 Embedding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Bi-Encoder 就像是幫每一本書先寫好摘要卡片，查詢時只要拿著查詢卡片去快速比對即可，非常適合用於「大海撈針」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優點：極度快速。可預先計算好數百萬份文件的向量並建立索引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主要限制</a:t>
            </a:r>
            <a:endParaRPr sz="18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◆"/>
            </a:pPr>
            <a:r>
              <a:rPr lang="zh-TW" sz="1600">
                <a:solidFill>
                  <a:schemeClr val="dk2"/>
                </a:solidFill>
              </a:rPr>
              <a:t>缺乏早期交互 (No Cross-Attention)： 句子 A 和 B 在變成向量前完全沒有交集，直到最後一刻才進行簡單的數學計算。這導致它容易忽略句子間細微的字詞依賴關係或深層邏輯。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◆"/>
            </a:pPr>
            <a:r>
              <a:rPr lang="zh-TW" sz="1600">
                <a:solidFill>
                  <a:schemeClr val="dk2"/>
                </a:solidFill>
              </a:rPr>
              <a:t>「速度」與「極致精準度」的取捨： 雖然找得快，但準確度通常不及把兩句話放在一起看的 Cross-Encoder。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交叉編碼器 (Cross-Encoder) </a:t>
            </a:r>
            <a:r>
              <a:rPr lang="zh-TW"/>
              <a:t>-&gt; reranker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401275" y="943150"/>
            <a:ext cx="85794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兩個句子同時輸入模型，模型直接輸出一個 0 到 1 的相似度分數。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缺點：不產生可儲存的向量，無法預先建立索引。運算速度極慢</a:t>
            </a:r>
            <a:endParaRPr sz="18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➔"/>
            </a:pPr>
            <a:r>
              <a:rPr lang="zh-TW" sz="1700">
                <a:solidFill>
                  <a:schemeClr val="dk2"/>
                </a:solidFill>
              </a:rPr>
              <a:t>Cross-Encoder 看得最仔細，但如果要比對一萬篇文章，它要重複看一萬次。所以通常的做法是：先用 Bi-Encoder 快速找出前 100 名，再用 Cross-Encoder 來做最後的「精細重新排序 (Reranking)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為什麼通用模型會失效？(RAG 的痛點)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401275" y="943150"/>
            <a:ext cx="857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➔"/>
            </a:pPr>
            <a:r>
              <a:rPr lang="zh-TW" sz="1800">
                <a:solidFill>
                  <a:schemeClr val="dk2"/>
                </a:solidFill>
              </a:rPr>
              <a:t>通用模型遇到專業領域（如醫療、法律、金融）會出現「詞彙落差」。</a:t>
            </a:r>
            <a:endParaRPr sz="18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➔"/>
            </a:pPr>
            <a:r>
              <a:rPr lang="zh-TW" sz="1800">
                <a:solidFill>
                  <a:schemeClr val="dk2"/>
                </a:solidFill>
              </a:rPr>
              <a:t>例如：在醫療紀錄中，「陽性 (Positive)」代表生病，但在通用情感分析中「Positive」是正面的意思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策略一：從頭訓練 (Train from Scratch)</a:t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401275" y="943150"/>
            <a:ext cx="8579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➔"/>
            </a:pPr>
            <a:r>
              <a:rPr lang="zh-TW" sz="1800">
                <a:solidFill>
                  <a:schemeClr val="dk2"/>
                </a:solidFill>
              </a:rPr>
              <a:t>優點：完全為特殊領域或特殊語言量身打造。</a:t>
            </a:r>
            <a:endParaRPr sz="18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➔"/>
            </a:pPr>
            <a:r>
              <a:rPr lang="zh-TW" sz="1800">
                <a:solidFill>
                  <a:schemeClr val="dk2"/>
                </a:solidFill>
              </a:rPr>
              <a:t>缺點：極度昂貴。需要數十億個單詞與數個月的 GPU 運算時間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除非你在研究全新的程式語言或生物基因序列，否則對 99% 的企業來說，從頭訓練是不切實際且沒有必要的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策略二：微調 (Fine-Tuning)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401275" y="943150"/>
            <a:ext cx="8579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拿已經懂人類語言的預訓練模型，調整權重以適應特定任務。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優點：性價比極高，只需要數千筆資料，幾小時到幾天就能完成。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微調就像是拿一套現成的西裝（預訓練模型），根據你公司的身材（特定領域資料）進行修改裁縫，讓它完美貼合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什麼時候「不該」微調？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401275" y="943150"/>
            <a:ext cx="8579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不要用模型已經見過的通用資料來微調。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這會導致模型「過擬合 (Overfitting)」或「災難性遺忘」。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如果你拿網路上常見的 SQuAD 問答資料集去微調一個已經看過這些資料的模型，不但沒有加入新知識，反而會讓模型忘記原本的能力。只有在你擁有「領域專屬」資料時才微調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訓練資料的常見格式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7"/>
          <p:cNvSpPr txBox="1"/>
          <p:nvPr/>
        </p:nvSpPr>
        <p:spPr>
          <a:xfrm>
            <a:off x="401275" y="943150"/>
            <a:ext cx="857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正樣本對 (Positive pair)：只有相關聯的兩個句子（如：問題與答案）。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三元組 (Triplets)：錨點 (Anchor) + 正樣本 (Positive) + 負樣本 (Negative)。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帶有分數的配對：兩個句子加上人工評分的相似度分數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弱監督資料生成 (降低成本的秘訣)</a:t>
            </a:r>
            <a:endParaRPr/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 txBox="1"/>
          <p:nvPr/>
        </p:nvSpPr>
        <p:spPr>
          <a:xfrm>
            <a:off x="401275" y="943150"/>
            <a:ext cx="857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缺乏人工標註時，可利用現有日誌快速構造大量訓練對。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來源：搜尋日誌（用戶搜尋詞與點擊的文章）、QA 問答庫、維基百科相鄰句子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為什麼我們需要「負樣本」？</a:t>
            </a:r>
            <a:endParaRPr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9"/>
          <p:cNvSpPr txBox="1"/>
          <p:nvPr/>
        </p:nvSpPr>
        <p:spPr>
          <a:xfrm>
            <a:off x="401275" y="943150"/>
            <a:ext cx="857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對比學習 (Contrastive Learning) 的核心：拉近相似樣本，推開不相似的樣本。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如果沒有負樣本，模型會把所有句子都聚在一起，失去分辨能力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4" name="Google Shape;194;p29"/>
          <p:cNvSpPr txBox="1"/>
          <p:nvPr>
            <p:ph type="title"/>
          </p:nvPr>
        </p:nvSpPr>
        <p:spPr>
          <a:xfrm>
            <a:off x="401267" y="2452220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什麼是「困難負樣本 (Hard Negatives)」？</a:t>
            </a:r>
            <a:endParaRPr/>
          </a:p>
        </p:txBody>
      </p:sp>
      <p:sp>
        <p:nvSpPr>
          <p:cNvPr id="195" name="Google Shape;195;p29"/>
          <p:cNvSpPr txBox="1"/>
          <p:nvPr/>
        </p:nvSpPr>
        <p:spPr>
          <a:xfrm>
            <a:off x="401275" y="3121525"/>
            <a:ext cx="8579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隨機/簡單負樣本：與問題毫無關聯的句子（學不到東西）,。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困難負樣本：字面看起來很像，但語意完全無關或回答錯誤的句子。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如果你問「感冒吃什麼藥」，拿「汽車如何保養」當負樣本太簡單了。如果拿「預防感冒的運動」當負樣本，模型才會真正學到細微的語意差異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如何自動挖掘困難負樣本？</a:t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0"/>
          <p:cNvSpPr txBox="1"/>
          <p:nvPr/>
        </p:nvSpPr>
        <p:spPr>
          <a:xfrm>
            <a:off x="401275" y="943150"/>
            <a:ext cx="8579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方法 1：使用 BM25 找出字面相似但非標準答案的文件,。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方法 2：使用強大的 Cross-Encoder 或是LLM 幫候選文件打分，挑出高分但標籤不符的樣本。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我們不可能人工去找困難負樣本。業界標準做法是用現有的搜尋引擎跑一次，把前 50 名「非標準答案」的文章抓出來當作訓練的陪練員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困難負樣本的陷阱「假陰性 (False Negatives)」</a:t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1"/>
          <p:cNvSpPr txBox="1"/>
          <p:nvPr/>
        </p:nvSpPr>
        <p:spPr>
          <a:xfrm>
            <a:off x="401275" y="943150"/>
            <a:ext cx="857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你以為的困難負樣本，其實可能也是正確答案！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研究指出，MS MARCO 資料集中找出的高分負樣本，有高達 70% 其實是相關的 (未被標註的正樣本)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MNRL 損失函數 (InfoNCE)</a:t>
            </a:r>
            <a:endParaRPr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2"/>
          <p:cNvSpPr txBox="1"/>
          <p:nvPr/>
        </p:nvSpPr>
        <p:spPr>
          <a:xfrm>
            <a:off x="401275" y="678550"/>
            <a:ext cx="8579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Multiple Negatives Ranking Loss (MNRL) 是目前訓練 Embedding 最強大、最常用的損失函數。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只需要提供「正樣本對」，它會自動把「同一個批次 (Batch) 內的其他資料」全部當成負樣本</a:t>
            </a:r>
            <a:br>
              <a:rPr lang="zh-TW" sz="1800">
                <a:solidFill>
                  <a:schemeClr val="dk2"/>
                </a:solidFill>
              </a:rPr>
            </a:br>
            <a:r>
              <a:rPr lang="zh-TW" sz="1800">
                <a:solidFill>
                  <a:schemeClr val="dk2"/>
                </a:solidFill>
              </a:rPr>
              <a:t>在 MNRL 中，Batch 越大，免費的負樣本就越多，模型學得越好。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將 Batch Size 從 1K 提升到 32K，能帶來顯著的性能飛躍</a:t>
            </a:r>
            <a:br>
              <a:rPr lang="zh-TW" sz="1800">
                <a:solidFill>
                  <a:schemeClr val="dk2"/>
                </a:solidFill>
              </a:rPr>
            </a:br>
            <a:r>
              <a:rPr lang="zh-TW" sz="1800">
                <a:solidFill>
                  <a:schemeClr val="dk2"/>
                </a:solidFill>
              </a:rPr>
              <a:t>注意Batch 越大，隨機抓到的其他樣本剛好是「同義詞」或「相關問題」的機率就越高。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這又回到了「假陰性」問題，模型會被錯誤的隨機負樣本懲罰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7" name="Google Shape;2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5800" y="3264000"/>
            <a:ext cx="2116701" cy="167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GISTEmbed：引導式負樣本過濾</a:t>
            </a:r>
            <a:endParaRPr/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3"/>
          <p:cNvSpPr txBox="1"/>
          <p:nvPr/>
        </p:nvSpPr>
        <p:spPr>
          <a:xfrm>
            <a:off x="401275" y="943150"/>
            <a:ext cx="857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為了解決 Batch 內的假陰性，引入一個強大的「引導模型 (Guide Model)」。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在訓練中，如果引導模型發現某個隨機負樣本跟查詢太像了，就遮蔽它，不計入損失。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5" name="Google Shape;225;p33"/>
          <p:cNvSpPr txBox="1"/>
          <p:nvPr>
            <p:ph type="title"/>
          </p:nvPr>
        </p:nvSpPr>
        <p:spPr>
          <a:xfrm>
            <a:off x="401267" y="1958945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處理假陰性的策略：邊距 (Margins)</a:t>
            </a:r>
            <a:endParaRPr/>
          </a:p>
        </p:txBody>
      </p:sp>
      <p:sp>
        <p:nvSpPr>
          <p:cNvPr id="226" name="Google Shape;226;p33"/>
          <p:cNvSpPr txBox="1"/>
          <p:nvPr/>
        </p:nvSpPr>
        <p:spPr>
          <a:xfrm>
            <a:off x="462700" y="2358038"/>
            <a:ext cx="857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透過設定相對邊距（Relative Margin），例如 5%。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如果某個負樣本的相似度，高達正樣本相似度的 95%，就將其捨棄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梯度快取 (Gradient Caching)</a:t>
            </a:r>
            <a:endParaRPr/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4"/>
          <p:cNvSpPr txBox="1"/>
          <p:nvPr/>
        </p:nvSpPr>
        <p:spPr>
          <a:xfrm>
            <a:off x="401275" y="943150"/>
            <a:ext cx="857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大 Batch 需要極大的 GPU 記憶體，容易 OOM (Out of Memory)。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解法：CachedMultipleNegativesRankingLoss。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將計算分成兩階段，讓普通 GPU 也能模擬出成千上萬的虛擬 Batch Size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餘弦相似度的「飽和區」問題</a:t>
            </a:r>
            <a:endParaRPr/>
          </a:p>
        </p:txBody>
      </p:sp>
      <p:sp>
        <p:nvSpPr>
          <p:cNvPr id="239" name="Google Shape;239;p35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5"/>
          <p:cNvSpPr txBox="1"/>
          <p:nvPr/>
        </p:nvSpPr>
        <p:spPr>
          <a:xfrm>
            <a:off x="401275" y="943150"/>
            <a:ext cx="857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大多數模型優化餘弦相似度 (Cosine Similarity)。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但當分數接近 1 或 -1 時，梯度會趨近於 0（梯度消失），模型會停止學習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1" name="Google Shape;241;p35"/>
          <p:cNvSpPr txBox="1"/>
          <p:nvPr>
            <p:ph type="title"/>
          </p:nvPr>
        </p:nvSpPr>
        <p:spPr>
          <a:xfrm>
            <a:off x="401267" y="2030470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AnglE Loss：角度優化</a:t>
            </a:r>
            <a:endParaRPr/>
          </a:p>
        </p:txBody>
      </p:sp>
      <p:sp>
        <p:nvSpPr>
          <p:cNvPr id="242" name="Google Shape;242;p35"/>
          <p:cNvSpPr txBox="1"/>
          <p:nvPr/>
        </p:nvSpPr>
        <p:spPr>
          <a:xfrm>
            <a:off x="401275" y="2699775"/>
            <a:ext cx="857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為了解決飽和問題，將計算轉移到複數空間中，優化兩個向量之間的「角度差異」,。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確保即使在極端相似的情況下，依然能有穩定的梯度更新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動態批次與樣本打包 (Sample Packing)</a:t>
            </a:r>
            <a:endParaRPr/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6"/>
          <p:cNvSpPr txBox="1"/>
          <p:nvPr/>
        </p:nvSpPr>
        <p:spPr>
          <a:xfrm>
            <a:off x="401275" y="943150"/>
            <a:ext cx="857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文件長短不一，GPU 經常有閒置資源。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透過「樣本打包」，將多個短句子拼接在一起放進同一個 Batch。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根據可用記憶體自動調整 Batch Size（關閉梯度檢查點）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進階架構：Matryoshka 俄羅斯娃娃表示法 (MRL)</a:t>
            </a:r>
            <a:endParaRPr/>
          </a:p>
        </p:txBody>
      </p:sp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7"/>
          <p:cNvSpPr txBox="1"/>
          <p:nvPr/>
        </p:nvSpPr>
        <p:spPr>
          <a:xfrm>
            <a:off x="401275" y="943150"/>
            <a:ext cx="857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訓練單一模型，讓它同時具備輸出不同維度（如 1024, 256, 64 維）向量的能力。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前幾個維度包含核心語意，後面的維度包含細節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MRL 漏斗搜尋 (Funnel Search)</a:t>
            </a:r>
            <a:endParaRPr/>
          </a:p>
        </p:txBody>
      </p:sp>
      <p:sp>
        <p:nvSpPr>
          <p:cNvPr id="262" name="Google Shape;262;p38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8"/>
          <p:cNvSpPr txBox="1"/>
          <p:nvPr/>
        </p:nvSpPr>
        <p:spPr>
          <a:xfrm>
            <a:off x="401275" y="943150"/>
            <a:ext cx="857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Shortlisting (初步篩選)：用前 1/6 的向量維度，快速找出前 128 名候選者。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Reranking (重新排序)：用完整的向量維度，對這 128 名重新計算分數並精準排序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Decoder-only的崛起</a:t>
            </a:r>
            <a:endParaRPr/>
          </a:p>
        </p:txBody>
      </p:sp>
      <p:sp>
        <p:nvSpPr>
          <p:cNvPr id="269" name="Google Shape;269;p39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9"/>
          <p:cNvSpPr txBox="1"/>
          <p:nvPr/>
        </p:nvSpPr>
        <p:spPr>
          <a:xfrm>
            <a:off x="401275" y="943150"/>
            <a:ext cx="8579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傳統 Embedding 多使用 BERT 架構。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最新趨勢：使用 LLM（如 Mistral-7B, Qwen）來做 Embedding (例如 NV-Embed),。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優勢：支援超長文本，且具備「上下文學習 (In-context learning)」能力,。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現在你可以直接對 Embedding 模型下 Prompt 指令。例如告訴它「請幫我找出這篇文章的反駁論點」，它產生的向量就會自動帶有任務導向的屬性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特化的模型</a:t>
            </a:r>
            <a:endParaRPr/>
          </a:p>
        </p:txBody>
      </p:sp>
      <p:sp>
        <p:nvSpPr>
          <p:cNvPr id="276" name="Google Shape;276;p40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0"/>
          <p:cNvSpPr txBox="1"/>
          <p:nvPr/>
        </p:nvSpPr>
        <p:spPr>
          <a:xfrm>
            <a:off x="401275" y="943150"/>
            <a:ext cx="8579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Bge-m3 模型同時支援三種檢索：密集檢索 (Dense)、稀疏檢索 (Sparse/BM25)、多向量檢索 (Multi-vector)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Jina Embeddings v3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◆"/>
            </a:pPr>
            <a:r>
              <a:rPr lang="zh-TW" sz="1800">
                <a:solidFill>
                  <a:schemeClr val="dk2"/>
                </a:solidFill>
              </a:rPr>
              <a:t>這款模型與 BGE-M3 一樣主打多功能，但它解決問題的維度不同，它主打的是「根據你的任務變形」。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◆"/>
            </a:pPr>
            <a:r>
              <a:rPr lang="zh-TW" sz="1800">
                <a:solidFill>
                  <a:schemeClr val="dk2"/>
                </a:solidFill>
              </a:rPr>
              <a:t>任務自適應 (Task-Aware)： 內建 LoRA 權重切換，同一個模型可根據任務（如：檢索、分群、分類、文本匹配）輸出最適合的向量。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如何客觀評估？認識 MTEB 基準測試</a:t>
            </a:r>
            <a:endParaRPr/>
          </a:p>
        </p:txBody>
      </p:sp>
      <p:sp>
        <p:nvSpPr>
          <p:cNvPr id="283" name="Google Shape;283;p41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1"/>
          <p:cNvSpPr txBox="1"/>
          <p:nvPr/>
        </p:nvSpPr>
        <p:spPr>
          <a:xfrm>
            <a:off x="401275" y="943150"/>
            <a:ext cx="8579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MTEB (Massive Text Embedding Benchmark)：涵蓋 8 大任務（檢索、分類、分群、語意相似度等）的權威排行榜。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沒有一個模型是萬能的，各有所長。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看排行榜時，不要只看「平均總分」。如果你是做 RAG 系統，請直接看「Retrieval (檢索)」和「STS」這兩個子項目的分數才準確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zh-TW" sz="1800">
                <a:solidFill>
                  <a:schemeClr val="dk2"/>
                </a:solidFill>
              </a:rPr>
              <a:t>排行榜第一不代表適合你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◆"/>
            </a:pPr>
            <a:r>
              <a:rPr lang="zh-TW" sz="1800">
                <a:solidFill>
                  <a:schemeClr val="dk2"/>
                </a:solidFill>
              </a:rPr>
              <a:t>醫學研究顯示，較小但專精的領域模型，在特定資料集上經常擊敗排行榜上的巨大通用模型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◆"/>
            </a:pPr>
            <a:r>
              <a:rPr lang="zh-TW" sz="1800">
                <a:solidFill>
                  <a:srgbClr val="FF0000"/>
                </a:solidFill>
              </a:rPr>
              <a:t>評估模型最好的方式，永遠是用「你自己業務場景的真實資料」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2"/>
          <p:cNvSpPr txBox="1"/>
          <p:nvPr/>
        </p:nvSpPr>
        <p:spPr>
          <a:xfrm>
            <a:off x="0" y="99100"/>
            <a:ext cx="9071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➔"/>
            </a:pPr>
            <a:r>
              <a:rPr lang="zh-TW" sz="1000">
                <a:solidFill>
                  <a:schemeClr val="dk2"/>
                </a:solidFill>
              </a:rPr>
              <a:t>MTEB 的 8 大核心任務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◆"/>
            </a:pPr>
            <a:r>
              <a:rPr lang="zh-TW" sz="1000">
                <a:solidFill>
                  <a:schemeClr val="dk2"/>
                </a:solidFill>
              </a:rPr>
              <a:t>1. Retrieval (檢索) ⭐️ RAG 必看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在做什麼： 給定一個 Query ，模型必須從龐大的 Corpus (語料庫) 中，精準找出最相關的 Document (文章)。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白話文： 就是「搜尋引擎」的大海撈針能力。找不找得到正確的參考資料，全看這個分數。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◆"/>
            </a:pPr>
            <a:r>
              <a:rPr lang="zh-TW" sz="1000">
                <a:solidFill>
                  <a:schemeClr val="dk2"/>
                </a:solidFill>
              </a:rPr>
              <a:t>2. STS - Semantic Textual Similarity (語意相似度) ⭐️ RAG 必看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在做什麼： 給定兩個句子，評估它們語意上的相似程度，通常會輸出一個連續的相關性分數，並與人類專家的評分計算相關係數。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白話文： 判斷「這兩句話的意思到底有多像？」這對於過濾重複問題或比對語意非常重要。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◆"/>
            </a:pPr>
            <a:r>
              <a:rPr lang="zh-TW" sz="1000">
                <a:solidFill>
                  <a:schemeClr val="dk2"/>
                </a:solidFill>
              </a:rPr>
              <a:t>3. Reranking (重排序)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在做什麼： 給定一個 Query 和一小群「已經被初步找出來的候選文章」，模型要根據語意相關性將它們重新精確排序。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白話文： 把粗篩出來的 Top 100 篇文章，精雕細琢排出最準確的名次。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◆"/>
            </a:pPr>
            <a:r>
              <a:rPr lang="zh-TW" sz="1000">
                <a:solidFill>
                  <a:schemeClr val="dk2"/>
                </a:solidFill>
              </a:rPr>
              <a:t>4. Clustering (文本分群)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在做什麼： 將一堆沒有標籤的句子或文章，根據語意向量在空間中的距離，自動聚集成幾個不同的類別。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白話文： 像是把幾萬筆雜亂的「客服對話紀錄」，自動歸納成「退款問題」、「帳號問題」、「物流問題」等幾大區塊。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◆"/>
            </a:pPr>
            <a:r>
              <a:rPr lang="zh-TW" sz="1000">
                <a:solidFill>
                  <a:schemeClr val="dk2"/>
                </a:solidFill>
              </a:rPr>
              <a:t>5. Classification (文本分類)</a:t>
            </a:r>
            <a:endParaRPr sz="9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在做什麼： 將文本轉換成向量後，用一個極簡單的分類器（如 Logistic Regression）來預測它的標籤（例如：正向/負向情緒）。這是在測試向量是否把特徵分得夠開。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白話文： 測試模型的向量能不能輕易分辨出這句話是「生氣」還是「開心」。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◆"/>
            </a:pPr>
            <a:r>
              <a:rPr lang="zh-TW" sz="1000">
                <a:solidFill>
                  <a:schemeClr val="dk2"/>
                </a:solidFill>
              </a:rPr>
              <a:t>6. Pair Classification (成對分類)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在做什麼： 給定兩個句子，模型只需做二元分類（Yes/No），判斷它們是否為「釋義 (Paraphrase)」或是否屬於同一類別。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白話文： 直接回答「這兩句話是不是在講同一件事？」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◆"/>
            </a:pPr>
            <a:r>
              <a:rPr lang="zh-TW" sz="1000">
                <a:solidFill>
                  <a:schemeClr val="dk2"/>
                </a:solidFill>
              </a:rPr>
              <a:t>7. Bitext Mining (雙語文本探勘)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在做什麼： 給定兩種不同語言的語料庫，模型必須跨越語言的障礙，找出互相對應（互為翻譯）的句子配對。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白話文： 在茫茫外文海中，精準找出哪句英文對應哪句中文。這是多語言模型（如 multilingual-e5）的強項。</a:t>
            </a:r>
            <a:endParaRPr sz="1000">
              <a:solidFill>
                <a:schemeClr val="dk2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◆"/>
            </a:pPr>
            <a:r>
              <a:rPr lang="zh-TW" sz="1000">
                <a:solidFill>
                  <a:schemeClr val="dk2"/>
                </a:solidFill>
              </a:rPr>
              <a:t>8. Summarization (摘要評估)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在做什麼： 評估機器生成的摘要與人類寫的標準摘要之間，在語意空間上的接近程度。</a:t>
            </a:r>
            <a:endParaRPr sz="1000">
              <a:solidFill>
                <a:schemeClr val="dk2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zh-TW" sz="1000">
                <a:solidFill>
                  <a:schemeClr val="dk2"/>
                </a:solidFill>
              </a:rPr>
              <a:t>白話文： 判斷「機器寫的總結」跟「人類寫的總結」核心意思是否一致。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